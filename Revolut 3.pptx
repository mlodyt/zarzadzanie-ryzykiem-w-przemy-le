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Nunito SemiBold"/>
      <p:regular r:id="rId53"/>
      <p:bold r:id="rId54"/>
      <p:italic r:id="rId55"/>
      <p:boldItalic r:id="rId56"/>
    </p:embeddedFont>
    <p:embeddedFont>
      <p:font typeface="Nunito"/>
      <p:regular r:id="rId57"/>
      <p:bold r:id="rId58"/>
      <p:italic r:id="rId59"/>
      <p:boldItalic r:id="rId60"/>
    </p:embeddedFont>
    <p:embeddedFont>
      <p:font typeface="Ubuntu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B04338-C327-4C74-849D-B22F71E13653}">
  <a:tblStyle styleId="{7DB04338-C327-4C74-849D-B22F71E13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UbuntuMono-bold.fntdata"/><Relationship Id="rId61" Type="http://schemas.openxmlformats.org/officeDocument/2006/relationships/font" Target="fonts/UbuntuMono-regular.fntdata"/><Relationship Id="rId20" Type="http://schemas.openxmlformats.org/officeDocument/2006/relationships/slide" Target="slides/slide14.xml"/><Relationship Id="rId64" Type="http://schemas.openxmlformats.org/officeDocument/2006/relationships/font" Target="fonts/UbuntuMono-boldItalic.fntdata"/><Relationship Id="rId63" Type="http://schemas.openxmlformats.org/officeDocument/2006/relationships/font" Target="fonts/Ubuntu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Nuni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NunitoSemiBold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NunitoSemiBold-italic.fntdata"/><Relationship Id="rId10" Type="http://schemas.openxmlformats.org/officeDocument/2006/relationships/slide" Target="slides/slide4.xml"/><Relationship Id="rId54" Type="http://schemas.openxmlformats.org/officeDocument/2006/relationships/font" Target="fonts/NunitoSemiBold-bold.fntdata"/><Relationship Id="rId13" Type="http://schemas.openxmlformats.org/officeDocument/2006/relationships/slide" Target="slides/slide7.xml"/><Relationship Id="rId57" Type="http://schemas.openxmlformats.org/officeDocument/2006/relationships/font" Target="fonts/Nunito-regular.fntdata"/><Relationship Id="rId12" Type="http://schemas.openxmlformats.org/officeDocument/2006/relationships/slide" Target="slides/slide6.xml"/><Relationship Id="rId56" Type="http://schemas.openxmlformats.org/officeDocument/2006/relationships/font" Target="fonts/NunitoSemiBold-boldItalic.fntdata"/><Relationship Id="rId15" Type="http://schemas.openxmlformats.org/officeDocument/2006/relationships/slide" Target="slides/slide9.xml"/><Relationship Id="rId59" Type="http://schemas.openxmlformats.org/officeDocument/2006/relationships/font" Target="fonts/Nunito-italic.fntdata"/><Relationship Id="rId14" Type="http://schemas.openxmlformats.org/officeDocument/2006/relationships/slide" Target="slides/slide8.xml"/><Relationship Id="rId58" Type="http://schemas.openxmlformats.org/officeDocument/2006/relationships/font" Target="fonts/Nuni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96d379b5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96d379b5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96d379b57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96d379b57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96d379b57_4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96d379b57_4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96d379b57_4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96d379b57_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6d379b57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96d379b57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96d379b57_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96d379b57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96d379b57_4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96d379b57_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6d379b57_4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96d379b57_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96d379b57_4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96d379b57_4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6d379b57_4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96d379b57_4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96d379b57_4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96d379b57_4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4d7ae7ee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4d7ae7ee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4d7ae7ee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4d7ae7ee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4d7ae7ee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4d7ae7ee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4d7ae7ee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4d7ae7e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4d7ae7ee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4d7ae7ee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96d379b57_4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96d379b57_4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96d379b57_4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96d379b57_4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96d379b57_4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96d379b57_4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96d379b57_4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96d379b57_4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96d379b57_4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96d379b57_4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96d379b57_4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96d379b57_4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96d379b57_4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96d379b57_4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9d5c88f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9d5c88f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96d379b57_4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96d379b57_4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96d379b57_4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96d379b57_4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c5b1993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c5b1993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c5b1993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c5b1993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c5b19936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c5b19936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c5b19936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c5b19936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c5b1993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c5b1993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c5b19936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4c5b19936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c5b19936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4c5b19936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4d7ae7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04d7ae7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c5b19936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c5b19936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4d7ae7ee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4d7ae7ee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c5b199369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4c5b19936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4d7ae7ee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04d7ae7ee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c5b19936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4c5b19936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a0d5f6f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4a0d5f6f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04d8d31d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04d8d31d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04d8d31d8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04d8d31d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04d8d31d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04d8d31d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4d8d31d8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04d8d31d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04d8d31d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04d8d31d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4d8d31d8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04d8d31d8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600" y="390725"/>
            <a:ext cx="5282801" cy="141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36050" y="2867075"/>
            <a:ext cx="467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28B8F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Wykonali: </a:t>
            </a:r>
            <a:endParaRPr sz="1800">
              <a:solidFill>
                <a:srgbClr val="28B8F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28B8F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Antoni Krzak</a:t>
            </a:r>
            <a:endParaRPr sz="1800">
              <a:solidFill>
                <a:srgbClr val="28B8F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28B8F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Wojciech Haładewicz </a:t>
            </a:r>
            <a:endParaRPr sz="1800">
              <a:solidFill>
                <a:srgbClr val="28B8F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28B8F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Michał Wiewiórowski</a:t>
            </a:r>
            <a:endParaRPr sz="1800">
              <a:solidFill>
                <a:srgbClr val="28B8F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28B8F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Rafał Głodek</a:t>
            </a:r>
            <a:endParaRPr sz="1800">
              <a:solidFill>
                <a:srgbClr val="28B8F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56" name="Google Shape;56;p13" title="revolut_car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700" y="2500300"/>
            <a:ext cx="2508675" cy="250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revolut_car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19150" y="2500300"/>
            <a:ext cx="2508675" cy="25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296200" y="2036350"/>
            <a:ext cx="45516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Miary </a:t>
            </a:r>
            <a:r>
              <a:rPr b="1" lang="pl" sz="3200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ryzyka</a:t>
            </a:r>
            <a:endParaRPr b="1" sz="3200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Ryzyko walutowe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Związane ze zmianami kursów walut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Dane od 2016 roku do 3 kwietnia 2025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Względem złotego (PLN)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Rozważamy: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💵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Dolar amerykański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💶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Euro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💷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Funt brytyjski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3925" y="755725"/>
            <a:ext cx="3134450" cy="31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Kursy walut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Dolar amerykański </a:t>
            </a: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(USD)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Euro</a:t>
            </a: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 (EUR)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Funt brytyjski (GBP)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Logarytmiczne stopy zwrotu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Dolar amerykański (USD)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Euro (EUR)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Funt brytyjski (GBP)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Test stacjonarności - ADF 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💵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Dolar amerykański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D6DEEB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testowa = -16.901, p-Value = 0.0 =&gt; Stationary</a:t>
            </a:r>
            <a:endParaRPr sz="1600">
              <a:solidFill>
                <a:srgbClr val="D6DEE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💶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Euro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D6DEEB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testowa = -16.036, p-Value = 0.0 =&gt; Stationary</a:t>
            </a:r>
            <a:endParaRPr sz="1600">
              <a:solidFill>
                <a:srgbClr val="D6DEE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00"/>
              <a:buFont typeface="Nunito SemiBold"/>
              <a:buChar char="💷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Funt brytyjski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	</a:t>
            </a:r>
            <a:r>
              <a:rPr lang="pl" sz="1600">
                <a:solidFill>
                  <a:srgbClr val="D6DEEB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testowa = -17.269, p-Value = 0.0 =&gt; Stationary</a:t>
            </a:r>
            <a:endParaRPr sz="1600">
              <a:solidFill>
                <a:srgbClr val="D6DEEB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1277100" y="1577900"/>
            <a:ext cx="59229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1277100" y="2492300"/>
            <a:ext cx="59229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1277100" y="3406700"/>
            <a:ext cx="59229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6DEE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Podejście parametryczne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19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Dopasowanie rozkładu t-studenta do zwrotów USD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41" y="771250"/>
            <a:ext cx="7089034" cy="35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537750" y="4201950"/>
            <a:ext cx="5036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KS: 0.0120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Wartość p: 0.8832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Dopasowane parametry: df = 5.04, loc = -0.0155, scale = 0.4967</a:t>
            </a:r>
            <a:endParaRPr sz="1900">
              <a:solidFill>
                <a:schemeClr val="lt2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19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Dopasowanie rozkładu t-studenta do zwrotów EUR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531300" y="4256250"/>
            <a:ext cx="5036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KS: 0.0134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Wartość p: 0.7899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Dopasowane parametry: df = 3.70, loc = -0.0108, scale = 0.2447</a:t>
            </a:r>
            <a:endParaRPr sz="12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0" y="812225"/>
            <a:ext cx="7102751" cy="35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19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Dopasowanie rozkładu t-studenta do zwrotów GBP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451850" y="4266250"/>
            <a:ext cx="5036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Statystyka KS: 0.0104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Wartość p: 0.9594</a:t>
            </a:r>
            <a:endParaRPr sz="11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5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Dopasowane parametry: df = 4.82, loc = -0.0091, scale = 0.4277</a:t>
            </a:r>
            <a:endParaRPr sz="1250">
              <a:solidFill>
                <a:srgbClr val="FFFF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850" y="816925"/>
            <a:ext cx="7083700" cy="35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Podejście nieparametryczne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Miary zmienności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9"/>
          <p:cNvGraphicFramePr/>
          <p:nvPr/>
        </p:nvGraphicFramePr>
        <p:xfrm>
          <a:off x="972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029050"/>
                <a:gridCol w="1029050"/>
                <a:gridCol w="1029050"/>
                <a:gridCol w="1029050"/>
                <a:gridCol w="1029050"/>
                <a:gridCol w="1029050"/>
                <a:gridCol w="1029050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STD_ANN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MEAN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SEMI_STD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IQR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CV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10.15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0.40%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0.73%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438.8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5.62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0.22%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306.0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8.86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0.38%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86.5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Dystrybuanty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Dolar amerykański (USD)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Euro (EUR)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Funt brytyjski (GBP)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Wartości dystrybuant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34"/>
          <p:cNvGraphicFramePr/>
          <p:nvPr/>
        </p:nvGraphicFramePr>
        <p:xfrm>
          <a:off x="97035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143325"/>
                <a:gridCol w="1143325"/>
                <a:gridCol w="1143325"/>
                <a:gridCol w="1143325"/>
                <a:gridCol w="1143325"/>
                <a:gridCol w="1143325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F(-1%)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F(-0.5%)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F(0)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(0.5%)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F(1%)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043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193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0.987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030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0.152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0.856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0.969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Kwantyle 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115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35"/>
          <p:cNvGraphicFramePr/>
          <p:nvPr/>
        </p:nvGraphicFramePr>
        <p:xfrm>
          <a:off x="97035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372000"/>
                <a:gridCol w="1372000"/>
                <a:gridCol w="1372000"/>
                <a:gridCol w="1372000"/>
                <a:gridCol w="1372000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Q(0.05)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Q(0.95)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Q(0.975)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-0.94%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-0.014%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1.02%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1.33%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-0.51%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0.70%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-0.85%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1.05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230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Boxploty stóp zwrotu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71650"/>
            <a:ext cx="7334249" cy="40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Portfel walutowy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3" name="Google Shape;2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Dobór wag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1005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Wagi zostały ustalone proporcjonalnie do estymowanych przychodów </a:t>
            </a: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uzyskanych</a:t>
            </a: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na poszczególnych rynkach walutowych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 portfelu znajdują się trzy waluty: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34327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💵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Dolar amerykański - waga: 0.08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34327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💶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Euro - waga: 0.37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34327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💷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Funt brytyjski - waga: 0.55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ct val="100000"/>
              <a:buFont typeface="Nunito SemiBold"/>
              <a:buChar char="💳"/>
            </a:pPr>
            <a:r>
              <a:rPr lang="pl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Formuła</a:t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50" name="Google Shape;25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175" y="3926700"/>
            <a:ext cx="6661102" cy="3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Zwroty portfela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200000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Macierz korelacji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40"/>
          <p:cNvGraphicFramePr/>
          <p:nvPr/>
        </p:nvGraphicFramePr>
        <p:xfrm>
          <a:off x="540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264775"/>
                <a:gridCol w="1264775"/>
                <a:gridCol w="1264775"/>
                <a:gridCol w="1264775"/>
                <a:gridCol w="1264775"/>
              </a:tblGrid>
              <a:tr h="73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Portfel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0.705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0.699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0.705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0.784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0.945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Portfel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0.699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0.784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0.945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Miary zmienności portfela i składowych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41"/>
          <p:cNvGraphicFramePr/>
          <p:nvPr/>
        </p:nvGraphicFramePr>
        <p:xfrm>
          <a:off x="540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029050"/>
                <a:gridCol w="1029050"/>
                <a:gridCol w="1029050"/>
                <a:gridCol w="1029050"/>
                <a:gridCol w="1029050"/>
                <a:gridCol w="1029050"/>
                <a:gridCol w="1029050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STD_ANN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MEAN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SEMI_STD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IQR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CV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10.15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-0.001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0.40%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0.73%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438.8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5.62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0.22%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396.0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8.86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0.38%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86.5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Portfel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0.43%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6.80%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0.27%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0.48%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104.7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Kwantyle portfela i składowych 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42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42"/>
          <p:cNvGraphicFramePr/>
          <p:nvPr/>
        </p:nvGraphicFramePr>
        <p:xfrm>
          <a:off x="540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372000"/>
                <a:gridCol w="1372000"/>
                <a:gridCol w="1372000"/>
                <a:gridCol w="1372000"/>
                <a:gridCol w="1372000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Q(0.05)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Q(0.95)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Q(0.975)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-0.94%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-0.014%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1.02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1.33%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-0.51%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-0.006%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0.54%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0.70%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-0.85%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0.002%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1.05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Portfel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-0.66%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-0.01%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0.67%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Dystrybuanta portfela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90" name="Google Shape;2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Wartości dystrybuant portfela i składowych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44"/>
          <p:cNvSpPr txBox="1"/>
          <p:nvPr>
            <p:ph idx="1" type="body"/>
          </p:nvPr>
        </p:nvSpPr>
        <p:spPr>
          <a:xfrm>
            <a:off x="311700" y="110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298" name="Google Shape;2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p44"/>
          <p:cNvGraphicFramePr/>
          <p:nvPr/>
        </p:nvGraphicFramePr>
        <p:xfrm>
          <a:off x="970350" y="110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143325"/>
                <a:gridCol w="1143325"/>
                <a:gridCol w="1143325"/>
                <a:gridCol w="1143325"/>
                <a:gridCol w="1143325"/>
                <a:gridCol w="1143325"/>
              </a:tblGrid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F(-1%)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F(-0.5%)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F(0)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(0.5%)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F(1%)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0.193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0.823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0.946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0.940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0.987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0.030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0.152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0.856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0.969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Portfel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0.093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0.900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0.982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Dystrybuanty wielowymiarowe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5" name="Google Shape;3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Rozkład USD i EUR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4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12" name="Google Shape;3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249" y="608975"/>
            <a:ext cx="5086026" cy="42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38625"/>
            <a:ext cx="3904251" cy="390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type="title"/>
          </p:nvPr>
        </p:nvSpPr>
        <p:spPr>
          <a:xfrm>
            <a:off x="311700" y="29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Wartości dystrybuanty wielowymiarowej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graphicFrame>
        <p:nvGraphicFramePr>
          <p:cNvPr id="320" name="Google Shape;320;p47"/>
          <p:cNvGraphicFramePr/>
          <p:nvPr/>
        </p:nvGraphicFramePr>
        <p:xfrm>
          <a:off x="486225" y="107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361925"/>
                <a:gridCol w="1361925"/>
                <a:gridCol w="1361925"/>
                <a:gridCol w="1361925"/>
                <a:gridCol w="1361925"/>
                <a:gridCol w="1361925"/>
              </a:tblGrid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 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0.020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0.169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0.192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0.193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0.050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0.381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0.050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0.490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0.810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0.821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0.050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0.510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0.915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0.944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Rozkład USD i GBP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624" y="647100"/>
            <a:ext cx="5138074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75" y="1017725"/>
            <a:ext cx="3780001" cy="37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Dystrybuanta wielowymiarowa dolarów i funtów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graphicFrame>
        <p:nvGraphicFramePr>
          <p:cNvPr id="335" name="Google Shape;335;p49"/>
          <p:cNvGraphicFramePr/>
          <p:nvPr/>
        </p:nvGraphicFramePr>
        <p:xfrm>
          <a:off x="311700" y="110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420100"/>
                <a:gridCol w="1420100"/>
                <a:gridCol w="1420100"/>
                <a:gridCol w="1420100"/>
                <a:gridCol w="1420100"/>
                <a:gridCol w="1420100"/>
              </a:tblGrid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</a:t>
                      </a: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USD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0.010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0.027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0.019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0.076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0.158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0.186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0.190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0.024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0.120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0.484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0.029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0.145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0.471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0.751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0.812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0.030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0.150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0.496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0.838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0.931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Rozkład EUR i GBP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42" name="Google Shape;3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375" y="642925"/>
            <a:ext cx="5215124" cy="435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35600"/>
            <a:ext cx="3758924" cy="37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Dystrybuanta wielowymiarowa euro i funtów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graphicFrame>
        <p:nvGraphicFramePr>
          <p:cNvPr id="350" name="Google Shape;350;p51"/>
          <p:cNvGraphicFramePr/>
          <p:nvPr/>
        </p:nvGraphicFramePr>
        <p:xfrm>
          <a:off x="311700" y="110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{7DB04338-C327-4C74-849D-B22F71E13653}</a:tableStyleId>
              </a:tblPr>
              <a:tblGrid>
                <a:gridCol w="1420100"/>
                <a:gridCol w="1420100"/>
                <a:gridCol w="1420100"/>
                <a:gridCol w="1420100"/>
                <a:gridCol w="1420100"/>
                <a:gridCol w="1420100"/>
              </a:tblGrid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GBP 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EUR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0.006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&lt;-0.5%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0.010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0.033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0.042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0.049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0.050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4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0.025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0.118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0.354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0.487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&lt;0.5%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0.030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0.149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0.497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0.835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0.925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6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&lt;1%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0.030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28B8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0.151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0.501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0.854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rgbClr val="D6DEEB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0.964</a:t>
                      </a:r>
                      <a:endParaRPr>
                        <a:solidFill>
                          <a:srgbClr val="D6DEEB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B8FB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Pomiar ryzyka ekstremalnego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6" name="Google Shape;3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Histogram maksimów dolara (USD)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2" name="Google Shape;362;p53"/>
          <p:cNvSpPr txBox="1"/>
          <p:nvPr>
            <p:ph idx="4294967295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63" name="Google Shape;36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 txBox="1"/>
          <p:nvPr>
            <p:ph idx="4294967295"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Testy Kołmogorowa-Smirnowa dla maksimów dolara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54"/>
          <p:cNvSpPr txBox="1"/>
          <p:nvPr>
            <p:ph idx="4294967295" type="body"/>
          </p:nvPr>
        </p:nvSpPr>
        <p:spPr>
          <a:xfrm>
            <a:off x="385175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4170" lvl="1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Weibull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Frechet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Gumbel</a:t>
            </a:r>
            <a:endParaRPr sz="2855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71" name="Google Shape;37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4"/>
          <p:cNvSpPr txBox="1"/>
          <p:nvPr/>
        </p:nvSpPr>
        <p:spPr>
          <a:xfrm>
            <a:off x="990000" y="3330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0.056, p-Value = 0.842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373" name="Google Shape;373;p54"/>
          <p:cNvSpPr txBox="1"/>
          <p:nvPr/>
        </p:nvSpPr>
        <p:spPr>
          <a:xfrm>
            <a:off x="990000" y="1494000"/>
            <a:ext cx="4716000" cy="4284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0.068, p-Value = 0.626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990000" y="2412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0.519, p-Value = 0.000</a:t>
            </a:r>
            <a:endParaRPr sz="1800">
              <a:solidFill>
                <a:srgbClr val="D6DEEB"/>
              </a:solidFill>
            </a:endParaRPr>
          </a:p>
        </p:txBody>
      </p:sp>
      <p:pic>
        <p:nvPicPr>
          <p:cNvPr id="375" name="Google Shape;37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000" y="1512000"/>
            <a:ext cx="2304000" cy="23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Histogram maksimów euro (EUR)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55"/>
          <p:cNvSpPr txBox="1"/>
          <p:nvPr>
            <p:ph idx="4294967295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idx="4294967295"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Testy Kołmogorowa-Smirnowa dla maksimów euro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p56"/>
          <p:cNvSpPr txBox="1"/>
          <p:nvPr>
            <p:ph idx="4294967295" type="body"/>
          </p:nvPr>
        </p:nvSpPr>
        <p:spPr>
          <a:xfrm>
            <a:off x="3852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4170" lvl="1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Weibull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Frechet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Gumbel</a:t>
            </a:r>
            <a:endParaRPr sz="2855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390" name="Google Shape;39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6"/>
          <p:cNvSpPr txBox="1"/>
          <p:nvPr/>
        </p:nvSpPr>
        <p:spPr>
          <a:xfrm>
            <a:off x="990000" y="3330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0.111, p-Value = 0.102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392" name="Google Shape;392;p56"/>
          <p:cNvSpPr txBox="1"/>
          <p:nvPr/>
        </p:nvSpPr>
        <p:spPr>
          <a:xfrm>
            <a:off x="990000" y="1494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0.068, p-Value = 0.625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393" name="Google Shape;393;p56"/>
          <p:cNvSpPr txBox="1"/>
          <p:nvPr/>
        </p:nvSpPr>
        <p:spPr>
          <a:xfrm>
            <a:off x="990000" y="2412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0.498, p-Value = 0.000</a:t>
            </a:r>
            <a:endParaRPr sz="1800">
              <a:solidFill>
                <a:srgbClr val="D6DEEB"/>
              </a:solidFill>
            </a:endParaRPr>
          </a:p>
        </p:txBody>
      </p:sp>
      <p:pic>
        <p:nvPicPr>
          <p:cNvPr id="394" name="Google Shape;39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000" y="1512000"/>
            <a:ext cx="2304000" cy="23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Histogram maksimów funta (GBP)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0" name="Google Shape;400;p57"/>
          <p:cNvSpPr txBox="1"/>
          <p:nvPr>
            <p:ph idx="4294967295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401" name="Google Shape;40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080000"/>
            <a:ext cx="7199999" cy="36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idx="4294967295" type="title"/>
          </p:nvPr>
        </p:nvSpPr>
        <p:spPr>
          <a:xfrm>
            <a:off x="311700" y="33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8B8FB"/>
                </a:solidFill>
                <a:latin typeface="Nunito"/>
                <a:ea typeface="Nunito"/>
                <a:cs typeface="Nunito"/>
                <a:sym typeface="Nunito"/>
              </a:rPr>
              <a:t>Testy Kołmogorowa-Smirnowa dla maksimów funta</a:t>
            </a:r>
            <a:endParaRPr b="1">
              <a:solidFill>
                <a:srgbClr val="28B8F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8" name="Google Shape;408;p58"/>
          <p:cNvSpPr txBox="1"/>
          <p:nvPr>
            <p:ph idx="4294967295" type="body"/>
          </p:nvPr>
        </p:nvSpPr>
        <p:spPr>
          <a:xfrm>
            <a:off x="3852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4170" lvl="1" marL="457200" rtl="0" algn="l">
              <a:spcBef>
                <a:spcPts val="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Weibull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Frechet</a:t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0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44170" lvl="1" marL="457200" rtl="0" algn="l">
              <a:spcBef>
                <a:spcPts val="1200"/>
              </a:spcBef>
              <a:spcAft>
                <a:spcPts val="0"/>
              </a:spcAft>
              <a:buClr>
                <a:srgbClr val="7DAEC4"/>
              </a:buClr>
              <a:buSzPts val="1820"/>
              <a:buFont typeface="Nunito SemiBold"/>
              <a:buChar char="📊"/>
            </a:pPr>
            <a:r>
              <a:rPr lang="pl" sz="1820">
                <a:solidFill>
                  <a:srgbClr val="7DAEC4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Gumbel</a:t>
            </a:r>
            <a:endParaRPr sz="2855">
              <a:solidFill>
                <a:srgbClr val="7DAEC4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409" name="Google Shape;4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0" y="3708000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8"/>
          <p:cNvSpPr txBox="1"/>
          <p:nvPr/>
        </p:nvSpPr>
        <p:spPr>
          <a:xfrm>
            <a:off x="990000" y="3330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0.098, p-Value = 0.201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411" name="Google Shape;411;p58"/>
          <p:cNvSpPr txBox="1"/>
          <p:nvPr/>
        </p:nvSpPr>
        <p:spPr>
          <a:xfrm>
            <a:off x="990000" y="1494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0.048, p-Value = 0.940</a:t>
            </a:r>
            <a:endParaRPr sz="1800">
              <a:solidFill>
                <a:srgbClr val="D6DEEB"/>
              </a:solidFill>
            </a:endParaRPr>
          </a:p>
        </p:txBody>
      </p:sp>
      <p:sp>
        <p:nvSpPr>
          <p:cNvPr id="412" name="Google Shape;412;p58"/>
          <p:cNvSpPr txBox="1"/>
          <p:nvPr/>
        </p:nvSpPr>
        <p:spPr>
          <a:xfrm>
            <a:off x="990000" y="2412000"/>
            <a:ext cx="4716000" cy="428700"/>
          </a:xfrm>
          <a:prstGeom prst="rect">
            <a:avLst/>
          </a:prstGeom>
          <a:noFill/>
          <a:ln cap="flat" cmpd="sng" w="9525">
            <a:solidFill>
              <a:srgbClr val="28B8FB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D6DEEB"/>
                </a:solidFill>
              </a:rPr>
              <a:t>Statystyka testowa = 0.541, p-Value = 0.000</a:t>
            </a:r>
            <a:endParaRPr sz="1800">
              <a:solidFill>
                <a:srgbClr val="D6DEEB"/>
              </a:solidFill>
            </a:endParaRPr>
          </a:p>
        </p:txBody>
      </p:sp>
      <p:pic>
        <p:nvPicPr>
          <p:cNvPr id="413" name="Google Shape;41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000" y="1512000"/>
            <a:ext cx="2304000" cy="23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